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png"/><Relationship Id="rId3" Type="http://schemas.openxmlformats.org/officeDocument/2006/relationships/image" Target="../media/image-3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png"/><Relationship Id="rId3" Type="http://schemas.openxmlformats.org/officeDocument/2006/relationships/image" Target="../media/image-3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lliammasquelier/Repositories/stromy-org/brand-tokens/clients/stromy/pattern-grid-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7050" y="-603200"/>
            <a:ext cx="6349901" cy="634990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762000" y="2031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PRESENTATION TITLE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62000" y="2327225"/>
            <a:ext cx="7772400" cy="1788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040"/>
              </a:lnSpc>
              <a:spcBef>
                <a:spcPts val="1200"/>
              </a:spcBef>
              <a:buNone/>
            </a:pPr>
            <a:r>
              <a:rPr lang="en-US" sz="64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Stromy</a:t>
            </a:r>
            <a:endParaRPr lang="en-US" sz="6400" dirty="0"/>
          </a:p>
          <a:p>
            <a:pPr algn="l" indent="0" marL="0">
              <a:lnSpc>
                <a:spcPts val="7040"/>
              </a:lnSpc>
              <a:spcBef>
                <a:spcPts val="1200"/>
              </a:spcBef>
              <a:buNone/>
            </a:pPr>
            <a:r>
              <a:rPr lang="en-US" sz="64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Template Library</a:t>
            </a:r>
            <a:endParaRPr lang="en-US" sz="6400" dirty="0"/>
          </a:p>
        </p:txBody>
      </p:sp>
      <p:sp>
        <p:nvSpPr>
          <p:cNvPr id="6" name="Text 3"/>
          <p:cNvSpPr/>
          <p:nvPr/>
        </p:nvSpPr>
        <p:spPr>
          <a:xfrm>
            <a:off x="762000" y="4216747"/>
            <a:ext cx="1524000" cy="14288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762000" y="4434185"/>
            <a:ext cx="77724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buNone/>
            </a:pPr>
            <a:r>
              <a:rPr lang="en-US" sz="12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Prepared by Stromy · April 2026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23473" y="4629150"/>
            <a:ext cx="62482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81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example.com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1269950"/>
            <a:ext cx="3627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PRESENTATION TITLE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1565225"/>
            <a:ext cx="3627069" cy="93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spcBef>
                <a:spcPts val="1200"/>
              </a:spcBef>
              <a:buNone/>
            </a:pPr>
            <a:r>
              <a:rPr lang="en-US" sz="32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Split Image</a:t>
            </a:r>
            <a:endParaRPr lang="en-US" sz="3200" dirty="0"/>
          </a:p>
          <a:p>
            <a:pPr algn="l" indent="0" marL="0">
              <a:lnSpc>
                <a:spcPts val="3680"/>
              </a:lnSpc>
              <a:spcBef>
                <a:spcPts val="1200"/>
              </a:spcBef>
              <a:buNone/>
            </a:pPr>
            <a:r>
              <a:rPr lang="en-US" sz="32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Title Layout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62000" y="2601367"/>
            <a:ext cx="1269950" cy="14288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818805"/>
            <a:ext cx="3627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buNone/>
            </a:pPr>
            <a:r>
              <a:rPr lang="en-US" sz="11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Prepared by Stromy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62000" y="3082230"/>
            <a:ext cx="3627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900" dirty="0">
                <a:solidFill>
                  <a:srgbClr val="6B81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example.com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57775" y="0"/>
            <a:ext cx="0" cy="5143500"/>
          </a:xfrm>
          <a:prstGeom prst="line">
            <a:avLst/>
          </a:prstGeom>
          <a:noFill/>
          <a:ln w="57150">
            <a:solidFill>
              <a:srgbClr val="1B3D33"/>
            </a:solidFill>
            <a:prstDash val="solid"/>
          </a:ln>
        </p:spPr>
      </p:sp>
      <p:pic>
        <p:nvPicPr>
          <p:cNvPr id="8" name="Image 0" descr="/Users/williammasquelier/Repositories/stromy-org/brand-tokens/clients/stromy/templates/pptx/_processed/02_brutalist_geometric.duot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6350" y="0"/>
            <a:ext cx="405765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346424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KEYNOTE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2590800"/>
            <a:ext cx="7772400" cy="109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20"/>
              </a:lnSpc>
              <a:spcBef>
                <a:spcPts val="800"/>
              </a:spcBef>
              <a:buNone/>
            </a:pPr>
            <a:r>
              <a:rPr lang="en-US" sz="36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Full-Bleed Image</a:t>
            </a:r>
            <a:endParaRPr lang="en-US" sz="3600" dirty="0"/>
          </a:p>
          <a:p>
            <a:pPr algn="l" indent="0" marL="0">
              <a:lnSpc>
                <a:spcPts val="4320"/>
              </a:lnSpc>
              <a:spcBef>
                <a:spcPts val="800"/>
              </a:spcBef>
              <a:buNone/>
            </a:pPr>
            <a:r>
              <a:rPr lang="en-US" sz="36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Title Slide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62000" y="3789462"/>
            <a:ext cx="1269950" cy="14288"/>
          </a:xfrm>
          <a:prstGeom prst="rect">
            <a:avLst/>
          </a:prstGeom>
          <a:solidFill>
            <a:srgbClr val="D46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3956149"/>
            <a:ext cx="77724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Maximum visual impact for keynotes and conferences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23473" y="4629150"/>
            <a:ext cx="62482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example.com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4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Table of Contents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62000" y="1985516"/>
            <a:ext cx="7620000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2000" y="1447502"/>
            <a:ext cx="64759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6B817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96901" y="1542752"/>
            <a:ext cx="17612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96901" y="1758553"/>
            <a:ext cx="176123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we observed and why it matters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2000" y="2617143"/>
            <a:ext cx="7620000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2079129"/>
            <a:ext cx="64759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6B817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96901" y="2174379"/>
            <a:ext cx="16026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Our Approach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96901" y="2390180"/>
            <a:ext cx="160260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Architecture and design principles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62000" y="3248769"/>
            <a:ext cx="7620000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2000" y="2710755"/>
            <a:ext cx="64759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6B817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96901" y="2806005"/>
            <a:ext cx="16381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96901" y="3021806"/>
            <a:ext cx="163812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Key capabilities and technical flow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2000" y="3880396"/>
            <a:ext cx="7620000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000" y="3342382"/>
            <a:ext cx="64759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6B817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396901" y="3437632"/>
            <a:ext cx="18937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Results &amp; Benchmarks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96901" y="3653433"/>
            <a:ext cx="189376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Measured performance against baselines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62000" y="4512022"/>
            <a:ext cx="7620000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000" y="3974009"/>
            <a:ext cx="64759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6B817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96901" y="4069259"/>
            <a:ext cx="117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Roadmap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96901" y="4285059"/>
            <a:ext cx="11786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ships next and why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26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8585150" y="4943475"/>
            <a:ext cx="51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20077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20077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Visual Overview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396901"/>
            <a:ext cx="3555950" cy="12699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71525" y="1406426"/>
            <a:ext cx="3536900" cy="50750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74675" y="1660327"/>
            <a:ext cx="319321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6B817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74675" y="2031802"/>
            <a:ext cx="31932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3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Executive Summary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4675" y="2273052"/>
            <a:ext cx="31932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Key findings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21101" y="1396901"/>
            <a:ext cx="3555950" cy="12699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30626" y="1406426"/>
            <a:ext cx="3536900" cy="50750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733776" y="1660327"/>
            <a:ext cx="319321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6B817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33776" y="2031802"/>
            <a:ext cx="31932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3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Market Analysis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33776" y="2273052"/>
            <a:ext cx="31932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Landscape review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2000" y="2870002"/>
            <a:ext cx="3555950" cy="12699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71525" y="2879527"/>
            <a:ext cx="3536900" cy="50750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4675" y="3133427"/>
            <a:ext cx="319321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6B817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74675" y="3504902"/>
            <a:ext cx="31932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3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Recommendations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74675" y="3746153"/>
            <a:ext cx="31932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Action plan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21101" y="2870002"/>
            <a:ext cx="3555950" cy="12699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530626" y="2879527"/>
            <a:ext cx="3536900" cy="50750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733776" y="3133427"/>
            <a:ext cx="319321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6B817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733776" y="3504902"/>
            <a:ext cx="31932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3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Implementation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33776" y="3746153"/>
            <a:ext cx="31932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Roadmap &amp; milestones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26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8585150" y="4943475"/>
            <a:ext cx="51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lliammasquelier/Repositories/stromy-org/brand-tokens/clients/stromy/pattern-grid-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7050" y="-603200"/>
            <a:ext cx="6349901" cy="634990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2000" y="1269950"/>
            <a:ext cx="7772400" cy="109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00"/>
              </a:lnSpc>
              <a:buNone/>
            </a:pPr>
            <a:r>
              <a:rPr lang="en-US" sz="8600" dirty="0">
                <a:solidFill>
                  <a:srgbClr val="FFFFFF">
                    <a:alpha val="25000"/>
                  </a:srgbClr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01</a:t>
            </a:r>
            <a:endParaRPr lang="en-US" sz="8600" dirty="0"/>
          </a:p>
        </p:txBody>
      </p:sp>
      <p:sp>
        <p:nvSpPr>
          <p:cNvPr id="4" name="Text 1"/>
          <p:cNvSpPr/>
          <p:nvPr/>
        </p:nvSpPr>
        <p:spPr>
          <a:xfrm>
            <a:off x="762000" y="2463701"/>
            <a:ext cx="7772400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40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62000" y="3146227"/>
            <a:ext cx="1015901" cy="142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762000" y="3312914"/>
            <a:ext cx="7772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we observed and why it matters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1269950"/>
            <a:ext cx="7772400" cy="109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00"/>
              </a:lnSpc>
              <a:buNone/>
            </a:pPr>
            <a:r>
              <a:rPr lang="en-US" sz="8600" dirty="0">
                <a:solidFill>
                  <a:srgbClr val="FFFFFF">
                    <a:alpha val="25000"/>
                  </a:srgbClr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02</a:t>
            </a:r>
            <a:endParaRPr lang="en-US" sz="8600" dirty="0"/>
          </a:p>
        </p:txBody>
      </p:sp>
      <p:sp>
        <p:nvSpPr>
          <p:cNvPr id="3" name="Text 1"/>
          <p:cNvSpPr/>
          <p:nvPr/>
        </p:nvSpPr>
        <p:spPr>
          <a:xfrm>
            <a:off x="762000" y="2463701"/>
            <a:ext cx="7772400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40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Our Approach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62000" y="3146227"/>
            <a:ext cx="1015901" cy="14288"/>
          </a:xfrm>
          <a:prstGeom prst="rect">
            <a:avLst/>
          </a:prstGeom>
          <a:solidFill>
            <a:srgbClr val="D46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3312914"/>
            <a:ext cx="7772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Architecture and design principles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Single Column Layout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168152"/>
            <a:ext cx="762000" cy="14288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1385590"/>
            <a:ext cx="7772400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spcBef>
                <a:spcPts val="1600"/>
              </a:spcBef>
              <a:buNone/>
            </a:pPr>
            <a:r>
              <a:rPr lang="en-US" sz="12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layout is ideal for narrative slides, executive summaries, and introductory</a:t>
            </a:r>
            <a:endParaRPr lang="en-US" sz="1200" dirty="0"/>
          </a:p>
          <a:p>
            <a:pPr algn="l" indent="0" marL="0">
              <a:lnSpc>
                <a:spcPts val="2040"/>
              </a:lnSpc>
              <a:spcBef>
                <a:spcPts val="1600"/>
              </a:spcBef>
              <a:buNone/>
            </a:pPr>
            <a:r>
              <a:rPr lang="en-US" sz="12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  paragraphs. The full-width text area allows for clear, readable prose with generous</a:t>
            </a:r>
            <a:endParaRPr lang="en-US" sz="1200" dirty="0"/>
          </a:p>
          <a:p>
            <a:pPr algn="l" indent="0" marL="0">
              <a:lnSpc>
                <a:spcPts val="2040"/>
              </a:lnSpc>
              <a:spcBef>
                <a:spcPts val="1600"/>
              </a:spcBef>
              <a:buNone/>
            </a:pPr>
            <a:r>
              <a:rPr lang="en-US" sz="12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  line spacing.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2000" y="2055912"/>
            <a:ext cx="7772400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Keep content to a maximum of two paragraphs. If more content is needed, split across</a:t>
            </a:r>
            <a:endParaRPr lang="en-US" sz="1200" dirty="0"/>
          </a:p>
          <a:p>
            <a:pPr algn="l" indent="0" marL="0">
              <a:lnSpc>
                <a:spcPts val="204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  multiple slides to maintain readability and visual impact.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9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85150" y="4943475"/>
            <a:ext cx="51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38862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3886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Text + Visual Layout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168152"/>
            <a:ext cx="762000" cy="14288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1334839"/>
            <a:ext cx="388620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the left column for narrative text with key findings, analysis, or strategic</a:t>
            </a:r>
            <a:endParaRPr lang="en-US" sz="1200" dirty="0"/>
          </a:p>
          <a:p>
            <a:pPr algn="l" indent="0" marL="0">
              <a:lnSpc>
                <a:spcPts val="192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  recommendations. Keep paragraphs short and scannable.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80099" y="507950"/>
            <a:ext cx="3301901" cy="3555950"/>
          </a:xfrm>
          <a:prstGeom prst="roundRect">
            <a:avLst>
              <a:gd name="adj" fmla="val 1731"/>
            </a:avLst>
          </a:prstGeom>
          <a:solidFill>
            <a:srgbClr val="F6F5F0"/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42893" y="2214414"/>
            <a:ext cx="995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Visual / Chart Area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10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585150" y="4943475"/>
            <a:ext cx="51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lliammasquelier/Repositories/stromy-org/brand-tokens/clients/stromy/templates/pptx/_processed/01_brutalist_concrete.duot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507950"/>
            <a:ext cx="3301901" cy="35559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444901" y="507950"/>
            <a:ext cx="42748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CASE STUDY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444901" y="752326"/>
            <a:ext cx="427482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Visual + Text Layout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444901" y="1168152"/>
            <a:ext cx="762000" cy="14288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4444901" y="1334839"/>
            <a:ext cx="427482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Image leads the eye on the left with narrative text on the right. Ideal for</a:t>
            </a:r>
            <a:endParaRPr lang="en-US" sz="1200" dirty="0"/>
          </a:p>
          <a:p>
            <a:pPr algn="l" indent="0" marL="0">
              <a:lnSpc>
                <a:spcPts val="192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  case studies, product showcases, and visual-narrative pairings.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9" name="Image 1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585150" y="4943475"/>
            <a:ext cx="51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PERSPECTIVES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Dual Column Text Layout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396901"/>
            <a:ext cx="35235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 Opportunity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62000" y="1660327"/>
            <a:ext cx="3523539" cy="812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addressable market has grown 34% year-over-year, driven by digital transformation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    initiatives across mid-market enterprises. Early movers are capturing disproportionate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    value in emerging segments.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21101" y="1396901"/>
            <a:ext cx="9525" cy="1075432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5277" y="1396901"/>
            <a:ext cx="35235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Competitive Position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35277" y="1660327"/>
            <a:ext cx="3523539" cy="812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Our differentiated approach combines deep domain expertise with proprietary methodology.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    Key competitors lack integrated data capabilities, creating a sustainable advantage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    in the current environment.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11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585150" y="4943475"/>
            <a:ext cx="51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28000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APPROACH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280003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Three-Phase Approach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2412950" cy="1590080"/>
          </a:xfrm>
          <a:prstGeom prst="roundRect">
            <a:avLst>
              <a:gd name="adj" fmla="val 3594"/>
            </a:avLst>
          </a:prstGeom>
          <a:solidFill>
            <a:srgbClr val="FFFFFF"/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25426" y="1787426"/>
            <a:ext cx="192382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817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25426" y="2184202"/>
            <a:ext cx="19238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4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Discovery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5426" y="2469952"/>
            <a:ext cx="1923821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Stakeholder interviews, data audit, and current-state assessment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327350" y="1524000"/>
            <a:ext cx="2412950" cy="1590080"/>
          </a:xfrm>
          <a:prstGeom prst="roundRect">
            <a:avLst>
              <a:gd name="adj" fmla="val 3594"/>
            </a:avLst>
          </a:prstGeom>
          <a:solidFill>
            <a:srgbClr val="FFFFFF"/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590776" y="1787426"/>
            <a:ext cx="192382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817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590776" y="2184202"/>
            <a:ext cx="19238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4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Analysis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90776" y="2469952"/>
            <a:ext cx="1923821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Gap analysis, benchmarking, and opportunity identification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92701" y="1524000"/>
            <a:ext cx="2412950" cy="1590080"/>
          </a:xfrm>
          <a:prstGeom prst="roundRect">
            <a:avLst>
              <a:gd name="adj" fmla="val 3594"/>
            </a:avLst>
          </a:prstGeom>
          <a:solidFill>
            <a:srgbClr val="FFFFFF"/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156127" y="1787426"/>
            <a:ext cx="192382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817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156127" y="2184202"/>
            <a:ext cx="19238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4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Delivery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56127" y="2469952"/>
            <a:ext cx="1923821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Strategic roadmap, implementation plan, and change support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18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585150" y="4943475"/>
            <a:ext cx="51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49224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FINDINGS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492241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Content with Sidebar Callout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168152"/>
            <a:ext cx="762000" cy="14288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1334839"/>
            <a:ext cx="4922419" cy="670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1200"/>
              </a:spcBef>
              <a:buNone/>
            </a:pPr>
            <a:r>
              <a:rPr lang="en-US" sz="11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primary content area occupies the left two-thirds of the slide. Use it for</a:t>
            </a:r>
            <a:endParaRPr lang="en-US" sz="1100" dirty="0"/>
          </a:p>
          <a:p>
            <a:pPr algn="l" indent="0" marL="0">
              <a:lnSpc>
                <a:spcPts val="1760"/>
              </a:lnSpc>
              <a:spcBef>
                <a:spcPts val="1200"/>
              </a:spcBef>
              <a:buNone/>
            </a:pPr>
            <a:r>
              <a:rPr lang="en-US" sz="11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  narrative analysis, findings, or detailed explanations. The sidebar callout</a:t>
            </a:r>
            <a:endParaRPr lang="en-US" sz="1100" dirty="0"/>
          </a:p>
          <a:p>
            <a:pPr algn="l" indent="0" marL="0">
              <a:lnSpc>
                <a:spcPts val="1760"/>
              </a:lnSpc>
              <a:spcBef>
                <a:spcPts val="1200"/>
              </a:spcBef>
              <a:buNone/>
            </a:pPr>
            <a:r>
              <a:rPr lang="en-US" sz="11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  highlights a key insight or metric.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62000" y="2132409"/>
            <a:ext cx="4922419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1000"/>
              </a:spcBef>
              <a:buNone/>
            </a:pPr>
            <a:r>
              <a:rPr lang="en-US" sz="11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layout prevents important data from getting buried in body text.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69050" y="507950"/>
            <a:ext cx="2412950" cy="1771055"/>
          </a:xfrm>
          <a:prstGeom prst="rect">
            <a:avLst/>
          </a:prstGeom>
          <a:solidFill>
            <a:srgbClr val="F6F5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988100" y="507950"/>
            <a:ext cx="0" cy="1771055"/>
          </a:xfrm>
          <a:prstGeom prst="line">
            <a:avLst/>
          </a:prstGeom>
          <a:noFill/>
          <a:ln w="38100">
            <a:solidFill>
              <a:srgbClr val="D463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1050" y="761851"/>
            <a:ext cx="19043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KEY INSIGHT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261050" y="1006227"/>
            <a:ext cx="190439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8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87%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261050" y="1492002"/>
            <a:ext cx="1904390" cy="533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 executives cite data-driven decisions as their top strategic priority for the coming year.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14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585150" y="4943475"/>
            <a:ext cx="51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lliammasquelier/Repositories/stromy-org/brand-tokens/clients/stromy/templates/pptx/_processed/02_brutalist_geometric.duot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27939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2000" y="2920901"/>
            <a:ext cx="77724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Large Image + Content Layout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62000" y="3368576"/>
            <a:ext cx="3756559" cy="406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 half features a full-width image. Bottom half provides space for heading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    and two columns of body text.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698802" y="3368576"/>
            <a:ext cx="3756559" cy="406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Ideal for site visits, product photos, event coverage, and any visual-led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    content that needs supporting narrative.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8" name="Image 1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WORKPLAN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Numbered List Layout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269802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01601" y="1361777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69950" y="1269802"/>
            <a:ext cx="72542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Conduct stakeholder alignment workshop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69950" y="1457027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 1-2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2000" y="1777752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01601" y="1869728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69950" y="1777752"/>
            <a:ext cx="72542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Complete data landscape audit and gap analysis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69950" y="1964978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 3-4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2000" y="2285702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01601" y="2377678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69950" y="2285702"/>
            <a:ext cx="72542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 strategic options and evaluate trade-offs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69950" y="2472928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 5-6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62000" y="279365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01601" y="2885629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69950" y="2793653"/>
            <a:ext cx="72542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 findings and obtain executive sign-off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69950" y="2980879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 7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62000" y="330160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01601" y="3393579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69950" y="3301603"/>
            <a:ext cx="72542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Mobilize implementation teams by workstream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269950" y="3488829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 8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26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8538121" y="4943475"/>
            <a:ext cx="998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CAPABILITIES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Bullet List with Icons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269802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1B3D33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371600" y="1269802"/>
            <a:ext cx="20980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Strategy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71600" y="1466552"/>
            <a:ext cx="20980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Data-driven planning and market positioning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2000" y="1904702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1B3D33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371600" y="1904702"/>
            <a:ext cx="20171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2101453"/>
            <a:ext cx="201718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Deep insights from structured data analysis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62000" y="2539603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1B3D33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71600" y="2539603"/>
            <a:ext cx="19749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Growth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71600" y="2736354"/>
            <a:ext cx="19749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Scalable models for sustainable expansion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62000" y="3174504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1B3D33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71600" y="3174504"/>
            <a:ext cx="19362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3371255"/>
            <a:ext cx="1936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Process optimization and efficiency gains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62000" y="3809405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1B3D33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371600" y="3809405"/>
            <a:ext cx="21865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71600" y="4006155"/>
            <a:ext cx="21865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New capabilities through emerging technology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21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lliammasquelier/Repositories/stromy-org/brand-tokens/clients/stromy/templates/pptx/_processed/02_brutalist_geometric.duot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253901"/>
            <a:ext cx="7772251" cy="253990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1101" y="457051"/>
            <a:ext cx="4507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Magazine Multi-Zone Layout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251" y="253901"/>
            <a:ext cx="2793950" cy="2539901"/>
          </a:xfrm>
          <a:prstGeom prst="roundRect">
            <a:avLst>
              <a:gd name="adj" fmla="val 3000"/>
            </a:avLst>
          </a:prstGeom>
          <a:solidFill>
            <a:srgbClr val="0B0B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6349752" y="1061889"/>
            <a:ext cx="1088136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rgbClr val="D4632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3.2x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6547693" y="1842939"/>
            <a:ext cx="6844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Average ROI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7950" y="3098750"/>
            <a:ext cx="38342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 Insight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07950" y="3292376"/>
            <a:ext cx="38342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Digital transformation spending accelerated 34% this year, with</a:t>
            </a:r>
            <a:endParaRPr lang="en-US" sz="900" dirty="0"/>
          </a:p>
          <a:p>
            <a:pPr algn="l" indent="0" marL="0">
              <a:lnSpc>
                <a:spcPts val="135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    mid-market enterprises driving the majority of new initiatives.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419451" y="3098750"/>
            <a:ext cx="38342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Our Approach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419451" y="3292376"/>
            <a:ext cx="38342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combine deep domain expertise with proprietary analytics to</a:t>
            </a:r>
            <a:endParaRPr lang="en-US" sz="900" dirty="0"/>
          </a:p>
          <a:p>
            <a:pPr algn="l" indent="0" marL="0">
              <a:lnSpc>
                <a:spcPts val="135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    deliver measurable outcomes within 90-day engagement cycles.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13" name="Image 1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33063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KEY METRICS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33063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Performance at a Glance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777901" cy="1238101"/>
          </a:xfrm>
          <a:prstGeom prst="roundRect">
            <a:avLst>
              <a:gd name="adj" fmla="val 3077"/>
            </a:avLst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762000" y="1538288"/>
            <a:ext cx="1777901" cy="0"/>
          </a:xfrm>
          <a:prstGeom prst="line">
            <a:avLst/>
          </a:prstGeom>
          <a:noFill/>
          <a:ln w="28575">
            <a:solidFill>
              <a:srgbClr val="D463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5150" y="1755725"/>
            <a:ext cx="139903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63%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65150" y="2241500"/>
            <a:ext cx="13990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Latency Reduction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5150" y="2435126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6B81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vs. baseline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692301" y="1524000"/>
            <a:ext cx="1777901" cy="1238101"/>
          </a:xfrm>
          <a:prstGeom prst="roundRect">
            <a:avLst>
              <a:gd name="adj" fmla="val 3077"/>
            </a:avLst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692301" y="1538288"/>
            <a:ext cx="1777901" cy="0"/>
          </a:xfrm>
          <a:prstGeom prst="line">
            <a:avLst/>
          </a:prstGeom>
          <a:noFill/>
          <a:ln w="28575">
            <a:solidFill>
              <a:srgbClr val="D463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95451" y="1755725"/>
            <a:ext cx="139903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2.4×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895451" y="2241500"/>
            <a:ext cx="13990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Throughput Gain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895451" y="2435126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6B81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same hardware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22602" y="1524000"/>
            <a:ext cx="1777901" cy="1238101"/>
          </a:xfrm>
          <a:prstGeom prst="roundRect">
            <a:avLst>
              <a:gd name="adj" fmla="val 3077"/>
            </a:avLst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622602" y="1538288"/>
            <a:ext cx="1777901" cy="0"/>
          </a:xfrm>
          <a:prstGeom prst="line">
            <a:avLst/>
          </a:prstGeom>
          <a:noFill/>
          <a:ln w="28575">
            <a:solidFill>
              <a:srgbClr val="D463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5752" y="1755725"/>
            <a:ext cx="139903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99.97%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825752" y="2241500"/>
            <a:ext cx="13990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Uptime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25752" y="2435126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6B81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rolling 90d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552902" y="1524000"/>
            <a:ext cx="1777901" cy="1238101"/>
          </a:xfrm>
          <a:prstGeom prst="roundRect">
            <a:avLst>
              <a:gd name="adj" fmla="val 3077"/>
            </a:avLst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552902" y="1538288"/>
            <a:ext cx="1777901" cy="0"/>
          </a:xfrm>
          <a:prstGeom prst="line">
            <a:avLst/>
          </a:prstGeom>
          <a:noFill/>
          <a:ln w="28575">
            <a:solidFill>
              <a:srgbClr val="D463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56053" y="1755725"/>
            <a:ext cx="139903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128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756053" y="2241500"/>
            <a:ext cx="13990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Customers in Prod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56053" y="2435126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6B81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+47 QoQ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34660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HIGHLIGHTS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346600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Key Performance Indicators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2387501" cy="161597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781050" y="1524000"/>
            <a:ext cx="0" cy="1615976"/>
          </a:xfrm>
          <a:prstGeom prst="line">
            <a:avLst/>
          </a:prstGeom>
          <a:noFill/>
          <a:ln w="38100">
            <a:solidFill>
              <a:srgbClr val="1B3D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4900" y="1828800"/>
            <a:ext cx="177459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42ms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104900" y="2454176"/>
            <a:ext cx="17745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1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P95 Response Time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04900" y="2692301"/>
            <a:ext cx="17745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b="1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-63%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52651" y="1524000"/>
            <a:ext cx="2387501" cy="161597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371701" y="1524000"/>
            <a:ext cx="0" cy="1615976"/>
          </a:xfrm>
          <a:prstGeom prst="line">
            <a:avLst/>
          </a:prstGeom>
          <a:noFill/>
          <a:ln w="38100">
            <a:solidFill>
              <a:srgbClr val="1B3D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95551" y="1828800"/>
            <a:ext cx="177459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99.97%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695551" y="2454176"/>
            <a:ext cx="17745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1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Uptime SLO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95551" y="2692301"/>
            <a:ext cx="17745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b="1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YTD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302" y="1524000"/>
            <a:ext cx="2387501" cy="161597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962352" y="1524000"/>
            <a:ext cx="0" cy="1615976"/>
          </a:xfrm>
          <a:prstGeom prst="line">
            <a:avLst/>
          </a:prstGeom>
          <a:noFill/>
          <a:ln w="38100">
            <a:solidFill>
              <a:srgbClr val="1B3D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86202" y="1828800"/>
            <a:ext cx="177459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18k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286202" y="2454176"/>
            <a:ext cx="17745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1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Queries / second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86202" y="2692301"/>
            <a:ext cx="17745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b="1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+2.4×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21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253901"/>
            <a:ext cx="213103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Executive Dashboard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7950" y="888950"/>
            <a:ext cx="3936950" cy="1981200"/>
          </a:xfrm>
          <a:prstGeom prst="roundRect">
            <a:avLst>
              <a:gd name="adj" fmla="val 2885"/>
            </a:avLst>
          </a:prstGeom>
          <a:solidFill>
            <a:srgbClr val="F6F5F0"/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103973" y="1725513"/>
            <a:ext cx="7449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Revenue Trend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03973" y="1909614"/>
            <a:ext cx="744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 Placeholder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49701" y="888950"/>
            <a:ext cx="3936950" cy="1981200"/>
          </a:xfrm>
          <a:prstGeom prst="roundRect">
            <a:avLst>
              <a:gd name="adj" fmla="val 2885"/>
            </a:avLst>
          </a:prstGeom>
          <a:solidFill>
            <a:srgbClr val="F6F5F0"/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5723" y="1725513"/>
            <a:ext cx="7449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Market Share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45723" y="1909614"/>
            <a:ext cx="744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 Placeholder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7950" y="3048000"/>
            <a:ext cx="3936950" cy="1981200"/>
          </a:xfrm>
          <a:prstGeom prst="roundRect">
            <a:avLst>
              <a:gd name="adj" fmla="val 2885"/>
            </a:avLst>
          </a:prstGeom>
          <a:solidFill>
            <a:srgbClr val="F6F5F0"/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959910" y="3884563"/>
            <a:ext cx="10330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 Satisfaction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959910" y="4068663"/>
            <a:ext cx="10330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 Placeholder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49701" y="3048000"/>
            <a:ext cx="3936950" cy="1981200"/>
          </a:xfrm>
          <a:prstGeom prst="roundRect">
            <a:avLst>
              <a:gd name="adj" fmla="val 2885"/>
            </a:avLst>
          </a:prstGeom>
          <a:solidFill>
            <a:srgbClr val="F6F5F0"/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15059" y="3884563"/>
            <a:ext cx="8062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Pipeline Forecast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15059" y="4068663"/>
            <a:ext cx="8062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 Placeholder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Investment Overview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320552"/>
            <a:ext cx="7620000" cy="1748433"/>
          </a:xfrm>
          <a:prstGeom prst="roundRect">
            <a:avLst>
              <a:gd name="adj" fmla="val 2179"/>
            </a:avLst>
          </a:prstGeom>
          <a:noFill/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71525" y="1330077"/>
            <a:ext cx="7600950" cy="345877"/>
          </a:xfrm>
          <a:prstGeom prst="roundRect">
            <a:avLst>
              <a:gd name="adj" fmla="val 11015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3925" y="1431578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Initiative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63826" y="1431578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Timeline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33776" y="1431578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Status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727" y="1431578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Investment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1525" y="1675954"/>
            <a:ext cx="7600950" cy="345877"/>
          </a:xfrm>
          <a:prstGeom prst="rect">
            <a:avLst/>
          </a:prstGeom>
          <a:solidFill>
            <a:srgbClr val="F6F5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23925" y="1777454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Digital Transformation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63826" y="177745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9797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Q2 2025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33776" y="177745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03727" y="177745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$1.2M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1525" y="2021830"/>
            <a:ext cx="7600950" cy="34587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23925" y="2123331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Strategy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63826" y="2123331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9797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Q3 2025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33776" y="2123331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Planned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03727" y="2123331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$680K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1525" y="2367707"/>
            <a:ext cx="7600950" cy="345877"/>
          </a:xfrm>
          <a:prstGeom prst="rect">
            <a:avLst/>
          </a:prstGeom>
          <a:solidFill>
            <a:srgbClr val="F6F5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23925" y="2469207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Process Optimization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63826" y="2469207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9797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Q4 2025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33776" y="2469207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Planned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03727" y="2469207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$450K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1525" y="2713583"/>
            <a:ext cx="7600950" cy="34587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23925" y="2815084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Change Management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463826" y="281508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9797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 2026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733776" y="281508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Scoping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003727" y="281508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$320K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62000" y="3145185"/>
            <a:ext cx="77724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800" i="1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Internal planning data, March 2025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33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lliammasquelier/Repositories/stromy-org/brand-tokens/clients/stromy/pattern-grid-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7050" y="-603200"/>
            <a:ext cx="6349901" cy="634990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33551" y="1518493"/>
            <a:ext cx="6476899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0"/>
              </a:lnSpc>
              <a:buNone/>
            </a:pPr>
            <a:r>
              <a:rPr lang="en-US" sz="9600" dirty="0">
                <a:solidFill>
                  <a:srgbClr val="D4632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63%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1333551" y="2890093"/>
            <a:ext cx="647689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Latency Reduction at P95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97050" y="3286869"/>
            <a:ext cx="762000" cy="14288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333551" y="3453557"/>
            <a:ext cx="64768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buNone/>
            </a:pPr>
            <a:r>
              <a:rPr lang="en-US" sz="12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Measured across 18k queries/sec over a rolling 90-day window in production.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27516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TRANSFORMATION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275161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Before &amp; After Impact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567199" y="2336497"/>
            <a:ext cx="1139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>
                <a:solidFill>
                  <a:srgbClr val="9D9D9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47%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567199" y="3092098"/>
            <a:ext cx="1139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Before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203725" y="2518961"/>
            <a:ext cx="46634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D4632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→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154908" y="2250772"/>
            <a:ext cx="1424687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dirty="0">
                <a:solidFill>
                  <a:srgbClr val="D4632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92%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5154908" y="3177823"/>
            <a:ext cx="14246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After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86170" y="4219575"/>
            <a:ext cx="35716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Customer satisfaction improvement after 6-month engagement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Project Scorecard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320552"/>
            <a:ext cx="7620000" cy="1796058"/>
          </a:xfrm>
          <a:prstGeom prst="roundRect">
            <a:avLst>
              <a:gd name="adj" fmla="val 2121"/>
            </a:avLst>
          </a:prstGeom>
          <a:noFill/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71525" y="1330077"/>
            <a:ext cx="7600950" cy="355402"/>
          </a:xfrm>
          <a:prstGeom prst="rect">
            <a:avLst/>
          </a:prstGeom>
          <a:solidFill>
            <a:srgbClr val="F6F5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3925" y="1431578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4CAF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3275" y="1436340"/>
            <a:ext cx="28498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Digital Platform Migration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97226" y="1441103"/>
            <a:ext cx="10362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CAF5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Track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13127" y="1441103"/>
            <a:ext cx="327108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Phase 2 of 3 complete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1525" y="1685479"/>
            <a:ext cx="7600950" cy="3554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23925" y="1786979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FF98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203275" y="1791742"/>
            <a:ext cx="28498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Governance Framework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997226" y="1796504"/>
            <a:ext cx="10362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At Risk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13127" y="1796504"/>
            <a:ext cx="327108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Resource gap identified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1525" y="2040880"/>
            <a:ext cx="7600950" cy="355402"/>
          </a:xfrm>
          <a:prstGeom prst="rect">
            <a:avLst/>
          </a:prstGeom>
          <a:solidFill>
            <a:srgbClr val="F6F5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23925" y="2142381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4CAF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03275" y="2147143"/>
            <a:ext cx="28498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Process Automation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997226" y="2151906"/>
            <a:ext cx="10362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CAF5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Track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13127" y="2151906"/>
            <a:ext cx="327108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Ahead of schedule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1525" y="2396282"/>
            <a:ext cx="7600950" cy="3554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23925" y="2497782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F443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203275" y="2502545"/>
            <a:ext cx="28498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Legacy System Retirement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997226" y="2507307"/>
            <a:ext cx="10362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433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Blocked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13127" y="2507307"/>
            <a:ext cx="327108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Dependency on vendor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1525" y="2751683"/>
            <a:ext cx="7600950" cy="355402"/>
          </a:xfrm>
          <a:prstGeom prst="rect">
            <a:avLst/>
          </a:prstGeom>
          <a:solidFill>
            <a:srgbClr val="F6F5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23925" y="2853184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4CAF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203275" y="2857946"/>
            <a:ext cx="28498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Change Management Program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997226" y="2862709"/>
            <a:ext cx="10362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CAF5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Track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13127" y="2862709"/>
            <a:ext cx="327108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Training 80% complete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32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4698950" cy="3555950"/>
          </a:xfrm>
          <a:prstGeom prst="roundRect">
            <a:avLst>
              <a:gd name="adj" fmla="val 1607"/>
            </a:avLst>
          </a:prstGeom>
          <a:solidFill>
            <a:srgbClr val="F6F5F0"/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400746" y="2214414"/>
            <a:ext cx="9314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 Placeholder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34149" y="507950"/>
            <a:ext cx="33679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ANALYSIS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34149" y="752326"/>
            <a:ext cx="336793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0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Chart + Narrative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334149" y="1149102"/>
            <a:ext cx="634901" cy="14288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34149" y="1290340"/>
            <a:ext cx="3367939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1000"/>
              </a:spcBef>
              <a:buNone/>
            </a:pPr>
            <a:r>
              <a:rPr lang="en-US" sz="11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Key insight from the data visualization. Lead with the takeaway.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10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81000"/>
            <a:ext cx="1718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FRAMEWORK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600075"/>
            <a:ext cx="17188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Priority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63600" y="2076301"/>
            <a:ext cx="145733" cy="562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IMPACT →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1092101"/>
            <a:ext cx="3530501" cy="1777901"/>
          </a:xfrm>
          <a:prstGeom prst="rect">
            <a:avLst/>
          </a:prstGeom>
          <a:solidFill>
            <a:srgbClr val="1B3D33">
              <a:alpha val="8000"/>
            </a:srgbClr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3925" y="1254026"/>
            <a:ext cx="3270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3D3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QUICK WINS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292501" y="1092101"/>
            <a:ext cx="3530501" cy="1777901"/>
          </a:xfrm>
          <a:prstGeom prst="rect">
            <a:avLst/>
          </a:prstGeom>
          <a:solidFill>
            <a:srgbClr val="D4632A">
              <a:alpha val="12000"/>
            </a:srgbClr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454426" y="1254026"/>
            <a:ext cx="3270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STRATEGIC BETS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62000" y="2870002"/>
            <a:ext cx="3530501" cy="1777901"/>
          </a:xfrm>
          <a:prstGeom prst="rect">
            <a:avLst/>
          </a:prstGeom>
          <a:solidFill>
            <a:srgbClr val="F6F5F0"/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23925" y="3031927"/>
            <a:ext cx="3270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PRIORITY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92501" y="2870002"/>
            <a:ext cx="3530501" cy="1777901"/>
          </a:xfrm>
          <a:prstGeom prst="rect">
            <a:avLst/>
          </a:prstGeom>
          <a:solidFill>
            <a:srgbClr val="1B3D33">
              <a:alpha val="3000"/>
            </a:srgbClr>
          </a:solidFill>
          <a:ln w="9525">
            <a:solidFill>
              <a:srgbClr val="DADA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54426" y="3031927"/>
            <a:ext cx="3270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MAJOR PROJECTS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17950" y="4568875"/>
            <a:ext cx="5709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EFFORT →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16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92444" y="253901"/>
            <a:ext cx="175911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SWOT Analysis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34901" y="762000"/>
            <a:ext cx="3873401" cy="1968401"/>
          </a:xfrm>
          <a:prstGeom prst="roundRect">
            <a:avLst>
              <a:gd name="adj" fmla="val 2903"/>
            </a:avLst>
          </a:prstGeom>
          <a:solidFill>
            <a:srgbClr val="1B3D33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12602" y="939701"/>
            <a:ext cx="35883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D3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84502" y="762000"/>
            <a:ext cx="3873401" cy="1968401"/>
          </a:xfrm>
          <a:prstGeom prst="roundRect">
            <a:avLst>
              <a:gd name="adj" fmla="val 2903"/>
            </a:avLst>
          </a:prstGeom>
          <a:solidFill>
            <a:srgbClr val="DADADA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762202" y="939701"/>
            <a:ext cx="35883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Weaknesses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4901" y="2806601"/>
            <a:ext cx="3873401" cy="1968401"/>
          </a:xfrm>
          <a:prstGeom prst="roundRect">
            <a:avLst>
              <a:gd name="adj" fmla="val 2903"/>
            </a:avLst>
          </a:prstGeom>
          <a:solidFill>
            <a:srgbClr val="D4632A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12602" y="2984302"/>
            <a:ext cx="35883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84502" y="2806601"/>
            <a:ext cx="3873401" cy="1968401"/>
          </a:xfrm>
          <a:prstGeom prst="roundRect">
            <a:avLst>
              <a:gd name="adj" fmla="val 2903"/>
            </a:avLst>
          </a:prstGeom>
          <a:solidFill>
            <a:srgbClr val="0B0B0B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62202" y="2984302"/>
            <a:ext cx="35883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Threats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13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20183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TIMELINE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201839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Project Timeline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47800" y="2006501"/>
            <a:ext cx="5486400" cy="19050"/>
          </a:xfrm>
          <a:prstGeom prst="rect">
            <a:avLst/>
          </a:prstGeom>
          <a:solidFill>
            <a:srgbClr val="6B817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346150" y="190500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D4632A"/>
          </a:solidFill>
          <a:ln w="28575">
            <a:solidFill>
              <a:srgbClr val="D4632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8284" y="2235101"/>
            <a:ext cx="13990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1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Discovery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8284" y="2422327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 1-2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8284" y="2596902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Research &amp; audit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908250" y="190500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1B3D33"/>
          </a:solidFill>
          <a:ln w="28575">
            <a:solidFill>
              <a:srgbClr val="6B817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10384" y="2235101"/>
            <a:ext cx="13990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1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10384" y="2422327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 3-4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10384" y="2596902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Plan &amp; align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470350" y="190500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1B3D33"/>
          </a:solidFill>
          <a:ln w="28575">
            <a:solidFill>
              <a:srgbClr val="6B817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872484" y="2235101"/>
            <a:ext cx="13990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1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Build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72484" y="2422327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 5-8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872484" y="2596902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 &amp; test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032450" y="190500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1B3D33"/>
          </a:solidFill>
          <a:ln w="28575">
            <a:solidFill>
              <a:srgbClr val="6B817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34584" y="2235101"/>
            <a:ext cx="13990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1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Launch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34584" y="2422327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 9-10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34584" y="2596902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Deploy &amp; train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594550" y="190500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1B3D33"/>
          </a:solidFill>
          <a:ln w="28575">
            <a:solidFill>
              <a:srgbClr val="6B817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996684" y="2235101"/>
            <a:ext cx="13990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1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Optimize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6684" y="2422327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 11-12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996684" y="2596902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Measure &amp; refine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27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METHODOLOGY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Our Process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77801" y="1777752"/>
            <a:ext cx="19050" cy="253901"/>
          </a:xfrm>
          <a:prstGeom prst="rect">
            <a:avLst/>
          </a:prstGeom>
          <a:solidFill>
            <a:srgbClr val="6B817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1320552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7050" y="1477714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422350" y="1320552"/>
            <a:ext cx="25140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Assess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22350" y="1580852"/>
            <a:ext cx="25140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Current state analysis and stakeholder alignment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77801" y="2488853"/>
            <a:ext cx="19050" cy="253901"/>
          </a:xfrm>
          <a:prstGeom prst="rect">
            <a:avLst/>
          </a:prstGeom>
          <a:solidFill>
            <a:srgbClr val="6B817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62000" y="2031653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27050" y="2188815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422350" y="2031653"/>
            <a:ext cx="248868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Design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2350" y="2291953"/>
            <a:ext cx="24886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Solution architecture and roadmap development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77801" y="3199954"/>
            <a:ext cx="19050" cy="253901"/>
          </a:xfrm>
          <a:prstGeom prst="rect">
            <a:avLst/>
          </a:prstGeom>
          <a:solidFill>
            <a:srgbClr val="6B817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62000" y="2742754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27050" y="289991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422350" y="2742754"/>
            <a:ext cx="235555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Implement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2350" y="3003054"/>
            <a:ext cx="235555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Phased delivery with iterative feedback loops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2000" y="3453854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27050" y="361101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422350" y="3453854"/>
            <a:ext cx="292740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Optimize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22350" y="3714155"/>
            <a:ext cx="29274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Performance measurement and continuous improvement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25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81000"/>
            <a:ext cx="20212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HIERARCHY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600075"/>
            <a:ext cx="20212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Strategic Pyramid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429000" y="1143000"/>
            <a:ext cx="2286000" cy="533400"/>
          </a:xfrm>
          <a:prstGeom prst="roundRect">
            <a:avLst>
              <a:gd name="adj" fmla="val 7143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369341" y="1323975"/>
            <a:ext cx="4053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Vision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67000" y="1727150"/>
            <a:ext cx="3810000" cy="533400"/>
          </a:xfrm>
          <a:prstGeom prst="roundRect">
            <a:avLst>
              <a:gd name="adj" fmla="val 7143"/>
            </a:avLst>
          </a:prstGeom>
          <a:solidFill>
            <a:srgbClr val="6B817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12871" y="1908125"/>
            <a:ext cx="51810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05000" y="2311301"/>
            <a:ext cx="5334000" cy="533400"/>
          </a:xfrm>
          <a:prstGeom prst="roundRect">
            <a:avLst>
              <a:gd name="adj" fmla="val 7143"/>
            </a:avLst>
          </a:prstGeom>
          <a:solidFill>
            <a:srgbClr val="1B3D33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56853" y="2492276"/>
            <a:ext cx="6302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3000" y="2895451"/>
            <a:ext cx="6858000" cy="533400"/>
          </a:xfrm>
          <a:prstGeom prst="roundRect">
            <a:avLst>
              <a:gd name="adj" fmla="val 7143"/>
            </a:avLst>
          </a:prstGeom>
          <a:solidFill>
            <a:srgbClr val="1B3D33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230896" y="3076426"/>
            <a:ext cx="68205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68667" y="1269950"/>
            <a:ext cx="8572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8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Strategic direction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668667" y="1774775"/>
            <a:ext cx="8572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8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Goals &amp; priorities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668667" y="2279600"/>
            <a:ext cx="8572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8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Programs &amp; projects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668667" y="2784425"/>
            <a:ext cx="8572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8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Processes &amp; tools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18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81000"/>
            <a:ext cx="14034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PIPELINE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600075"/>
            <a:ext cx="140343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Sales Funnel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62000" y="1066800"/>
            <a:ext cx="6603950" cy="482501"/>
          </a:xfrm>
          <a:prstGeom prst="roundRect">
            <a:avLst>
              <a:gd name="adj" fmla="val 7896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544577" y="1236613"/>
            <a:ext cx="10386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Awareness · 10,000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22499" y="1600051"/>
            <a:ext cx="5283101" cy="482501"/>
          </a:xfrm>
          <a:prstGeom prst="roundRect">
            <a:avLst>
              <a:gd name="adj" fmla="val 7896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655089" y="1769864"/>
            <a:ext cx="8177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Interest · 4,200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82850" y="2133302"/>
            <a:ext cx="3962400" cy="482501"/>
          </a:xfrm>
          <a:prstGeom prst="roundRect">
            <a:avLst>
              <a:gd name="adj" fmla="val 7896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567496" y="2303115"/>
            <a:ext cx="9931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Evaluation · 1,800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0" y="2666554"/>
            <a:ext cx="2641550" cy="482501"/>
          </a:xfrm>
          <a:prstGeom prst="roundRect">
            <a:avLst>
              <a:gd name="adj" fmla="val 7896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684389" y="2836366"/>
            <a:ext cx="7590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Decision · 620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38500" y="3199805"/>
            <a:ext cx="1650950" cy="482501"/>
          </a:xfrm>
          <a:prstGeom prst="roundRect">
            <a:avLst>
              <a:gd name="adj" fmla="val 7896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86474" y="3369618"/>
            <a:ext cx="9550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Closed Won · 310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49866" y="1320701"/>
            <a:ext cx="18990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600"/>
              </a:spcAft>
              <a:buNone/>
            </a:pPr>
            <a:r>
              <a:rPr lang="en-US" sz="8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42%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449866" y="1774627"/>
            <a:ext cx="18990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600"/>
              </a:spcAft>
              <a:buNone/>
            </a:pPr>
            <a:r>
              <a:rPr lang="en-US" sz="8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43%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49866" y="2228552"/>
            <a:ext cx="18990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600"/>
              </a:spcAft>
              <a:buNone/>
            </a:pPr>
            <a:r>
              <a:rPr lang="en-US" sz="8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34%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449866" y="2682478"/>
            <a:ext cx="18990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600"/>
              </a:spcAft>
              <a:buNone/>
            </a:pPr>
            <a:r>
              <a:rPr lang="en-US" sz="8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50%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20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81000"/>
            <a:ext cx="22086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INTERSECTION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600075"/>
            <a:ext cx="220860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Strategic Alignment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413025" y="1143000"/>
            <a:ext cx="2286000" cy="2286000"/>
          </a:xfrm>
          <a:prstGeom prst="roundRect">
            <a:avLst>
              <a:gd name="adj" fmla="val 40000"/>
            </a:avLst>
          </a:prstGeom>
          <a:solidFill>
            <a:srgbClr val="1B3D33">
              <a:alpha val="9000"/>
            </a:srgbClr>
          </a:solidFill>
          <a:ln w="19050">
            <a:solidFill>
              <a:srgbClr val="1B3D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444975" y="1143000"/>
            <a:ext cx="2286000" cy="2286000"/>
          </a:xfrm>
          <a:prstGeom prst="roundRect">
            <a:avLst>
              <a:gd name="adj" fmla="val 40000"/>
            </a:avLst>
          </a:prstGeom>
          <a:solidFill>
            <a:srgbClr val="D4632A">
              <a:alpha val="9000"/>
            </a:srgbClr>
          </a:solidFill>
          <a:ln w="19050">
            <a:solidFill>
              <a:srgbClr val="D4632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428926" y="1905000"/>
            <a:ext cx="2286000" cy="2286000"/>
          </a:xfrm>
          <a:prstGeom prst="roundRect">
            <a:avLst>
              <a:gd name="adj" fmla="val 40000"/>
            </a:avLst>
          </a:prstGeom>
          <a:solidFill>
            <a:srgbClr val="6B817A">
              <a:alpha val="9000"/>
            </a:srgbClr>
          </a:solidFill>
          <a:ln w="19050">
            <a:solidFill>
              <a:srgbClr val="6B817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539975" y="1777901"/>
            <a:ext cx="6286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3D3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44307" y="1777901"/>
            <a:ext cx="366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People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00426" y="3667125"/>
            <a:ext cx="4148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817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Process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000426" y="2412950"/>
            <a:ext cx="3430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Value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13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53901"/>
            <a:ext cx="22813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ECOSYSTEM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472976"/>
            <a:ext cx="228132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Hub &amp; Spoke Model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1851" y="1523851"/>
            <a:ext cx="14288" cy="1524000"/>
          </a:xfrm>
          <a:prstGeom prst="rect">
            <a:avLst/>
          </a:prstGeom>
          <a:solidFill>
            <a:srgbClr val="6B817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127302" y="1244501"/>
            <a:ext cx="888950" cy="558701"/>
          </a:xfrm>
          <a:prstGeom prst="roundRect">
            <a:avLst>
              <a:gd name="adj" fmla="val 50009"/>
            </a:avLst>
          </a:prstGeom>
          <a:solidFill>
            <a:srgbClr val="FFFFFF"/>
          </a:solidFill>
          <a:ln w="19050">
            <a:solidFill>
              <a:srgbClr val="1B3D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409777" y="1457176"/>
            <a:ext cx="3304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Clients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1851" y="2285851"/>
            <a:ext cx="1326967" cy="774373"/>
          </a:xfrm>
          <a:prstGeom prst="rect">
            <a:avLst/>
          </a:prstGeom>
          <a:solidFill>
            <a:srgbClr val="6B817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447109" y="2006501"/>
            <a:ext cx="888950" cy="558701"/>
          </a:xfrm>
          <a:prstGeom prst="roundRect">
            <a:avLst>
              <a:gd name="adj" fmla="val 50009"/>
            </a:avLst>
          </a:prstGeom>
          <a:solidFill>
            <a:srgbClr val="FFFFFF"/>
          </a:solidFill>
          <a:ln w="19050">
            <a:solidFill>
              <a:srgbClr val="1B3D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704284" y="2219176"/>
            <a:ext cx="38209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Partners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64707" y="3047851"/>
            <a:ext cx="1326967" cy="774373"/>
          </a:xfrm>
          <a:prstGeom prst="rect">
            <a:avLst/>
          </a:prstGeom>
          <a:solidFill>
            <a:srgbClr val="6B817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447109" y="3530501"/>
            <a:ext cx="888950" cy="558701"/>
          </a:xfrm>
          <a:prstGeom prst="roundRect">
            <a:avLst>
              <a:gd name="adj" fmla="val 50009"/>
            </a:avLst>
          </a:prstGeom>
          <a:solidFill>
            <a:srgbClr val="FFFFFF"/>
          </a:solidFill>
          <a:ln w="19050">
            <a:solidFill>
              <a:srgbClr val="1B3D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622578" y="3743176"/>
            <a:ext cx="5487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Technology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57564" y="3047851"/>
            <a:ext cx="14288" cy="1524000"/>
          </a:xfrm>
          <a:prstGeom prst="rect">
            <a:avLst/>
          </a:prstGeom>
          <a:solidFill>
            <a:srgbClr val="6B817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127302" y="4292501"/>
            <a:ext cx="888950" cy="558701"/>
          </a:xfrm>
          <a:prstGeom prst="roundRect">
            <a:avLst>
              <a:gd name="adj" fmla="val 50009"/>
            </a:avLst>
          </a:prstGeom>
          <a:solidFill>
            <a:srgbClr val="FFFFFF"/>
          </a:solidFill>
          <a:ln w="19050">
            <a:solidFill>
              <a:srgbClr val="1B3D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320927" y="4505176"/>
            <a:ext cx="51158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Operations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44885" y="3035478"/>
            <a:ext cx="1326966" cy="774373"/>
          </a:xfrm>
          <a:prstGeom prst="rect">
            <a:avLst/>
          </a:prstGeom>
          <a:solidFill>
            <a:srgbClr val="6B817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807494" y="3530501"/>
            <a:ext cx="888950" cy="558701"/>
          </a:xfrm>
          <a:prstGeom prst="roundRect">
            <a:avLst>
              <a:gd name="adj" fmla="val 50009"/>
            </a:avLst>
          </a:prstGeom>
          <a:solidFill>
            <a:srgbClr val="FFFFFF"/>
          </a:solidFill>
          <a:ln w="19050">
            <a:solidFill>
              <a:srgbClr val="1B3D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096369" y="3743176"/>
            <a:ext cx="31742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People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52029" y="2273478"/>
            <a:ext cx="1326966" cy="774373"/>
          </a:xfrm>
          <a:prstGeom prst="rect">
            <a:avLst/>
          </a:prstGeom>
          <a:solidFill>
            <a:srgbClr val="6B817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807494" y="2006501"/>
            <a:ext cx="888950" cy="558701"/>
          </a:xfrm>
          <a:prstGeom prst="roundRect">
            <a:avLst>
              <a:gd name="adj" fmla="val 50009"/>
            </a:avLst>
          </a:prstGeom>
          <a:solidFill>
            <a:srgbClr val="FFFFFF"/>
          </a:solidFill>
          <a:ln w="19050">
            <a:solidFill>
              <a:srgbClr val="1B3D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070920" y="2219176"/>
            <a:ext cx="3691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Finance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65402" y="2641550"/>
            <a:ext cx="812750" cy="812750"/>
          </a:xfrm>
          <a:prstGeom prst="roundRect">
            <a:avLst>
              <a:gd name="adj" fmla="val 112507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366171" y="2966889"/>
            <a:ext cx="4194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Stromy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26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29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111573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INSIGHT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2355949"/>
            <a:ext cx="7772400" cy="975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800"/>
              </a:spcBef>
              <a:buNone/>
            </a:pPr>
            <a:r>
              <a:rPr lang="en-US" sz="32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Transform Complexity</a:t>
            </a:r>
            <a:endParaRPr lang="en-US" sz="3200" dirty="0"/>
          </a:p>
          <a:p>
            <a:pPr algn="l" indent="0" marL="0">
              <a:lnSpc>
                <a:spcPts val="3840"/>
              </a:lnSpc>
              <a:spcBef>
                <a:spcPts val="800"/>
              </a:spcBef>
              <a:buNone/>
            </a:pPr>
            <a:r>
              <a:rPr lang="en-US" sz="32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Into Clarity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62000" y="3432870"/>
            <a:ext cx="1269950" cy="14288"/>
          </a:xfrm>
          <a:prstGeom prst="rect">
            <a:avLst/>
          </a:prstGeom>
          <a:solidFill>
            <a:srgbClr val="D46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3599557"/>
            <a:ext cx="5181549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Full-bleed image with bottom-anchored text. Gradient overlay ensures readability.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1015901"/>
            <a:ext cx="41451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NARRATIVE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1260277"/>
            <a:ext cx="4145179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800"/>
              </a:spcBef>
              <a:buNone/>
            </a:pPr>
            <a:r>
              <a:rPr lang="en-US" sz="2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Left-Aligned Text</a:t>
            </a:r>
            <a:endParaRPr lang="en-US" sz="2800" dirty="0"/>
          </a:p>
          <a:p>
            <a:pPr algn="l" indent="0" marL="0">
              <a:lnSpc>
                <a:spcPts val="3360"/>
              </a:lnSpc>
              <a:spcBef>
                <a:spcPts val="800"/>
              </a:spcBef>
              <a:buNone/>
            </a:pPr>
            <a:r>
              <a:rPr lang="en-US" sz="2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Over Image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2214860"/>
            <a:ext cx="1015901" cy="14288"/>
          </a:xfrm>
          <a:prstGeom prst="rect">
            <a:avLst/>
          </a:prstGeom>
          <a:solidFill>
            <a:srgbClr val="D46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381548"/>
            <a:ext cx="4145179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Gradient fades from left to right. Text occupies the left 45%, image shows through</a:t>
            </a:r>
            <a:endParaRPr lang="en-US" sz="1200" dirty="0"/>
          </a:p>
          <a:p>
            <a:pPr algn="l" indent="0" marL="0">
              <a:lnSpc>
                <a:spcPts val="192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  on the right side.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lliammasquelier/Repositories/stromy-org/brand-tokens/clients/stromy/templates/pptx/_processed/02_brutalist_geometric.duot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31795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98950" y="762000"/>
            <a:ext cx="40156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CASE STUDY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698950" y="1006376"/>
            <a:ext cx="401568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Image Left, Text Right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698950" y="1443038"/>
            <a:ext cx="634901" cy="14288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4698950" y="1609725"/>
            <a:ext cx="4015689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1200"/>
              </a:spcBef>
              <a:buNone/>
            </a:pPr>
            <a:r>
              <a:rPr lang="en-US" sz="11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Pair a visual with narrative text. Image occupies the left half for visual impact.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9" name="Image 1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31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762000"/>
            <a:ext cx="40156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FEATURE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7950" y="1006376"/>
            <a:ext cx="401568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Text Left, Image Right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7950" y="1443038"/>
            <a:ext cx="634901" cy="14288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1609725"/>
            <a:ext cx="4015689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1200"/>
              </a:spcBef>
              <a:buNone/>
            </a:pPr>
            <a:r>
              <a:rPr lang="en-US" sz="11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Reversed split layout for visual variety within the same deck. Alternate with E3.</a:t>
            </a:r>
            <a:endParaRPr lang="en-US" sz="1100" dirty="0"/>
          </a:p>
        </p:txBody>
      </p:sp>
      <p:pic>
        <p:nvPicPr>
          <p:cNvPr id="6" name="Image 0" descr="/Users/williammasquelier/Repositories/stromy-org/brand-tokens/clients/stromy/templates/pptx/_processed/01_brutalist_concrete.duot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26050" y="0"/>
            <a:ext cx="4317950" cy="5143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9" name="Image 1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32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3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4951" y="1015901"/>
            <a:ext cx="0" cy="1547515"/>
          </a:xfrm>
          <a:prstGeom prst="line">
            <a:avLst/>
          </a:prstGeom>
          <a:noFill/>
          <a:ln w="38100">
            <a:solidFill>
              <a:srgbClr val="D463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58801" y="1015901"/>
            <a:ext cx="6904381" cy="1172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i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“The partnership with Stromy transformed how we approach</a:t>
            </a:r>
            <a:endParaRPr lang="en-US" sz="2200" dirty="0"/>
          </a:p>
          <a:p>
            <a:pPr algn="l" indent="0" marL="0">
              <a:lnSpc>
                <a:spcPts val="3080"/>
              </a:lnSpc>
              <a:buNone/>
            </a:pPr>
            <a:r>
              <a:rPr lang="en-US" sz="2200" b="1" i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         strategic planning. Their methodology brought clarity to complexity.”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58801" y="2391966"/>
            <a:ext cx="69043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Jane Smith, Chief Strategy Officer, Acme Corp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5901" y="1809750"/>
            <a:ext cx="1524000" cy="1524000"/>
          </a:xfrm>
          <a:prstGeom prst="roundRect">
            <a:avLst>
              <a:gd name="adj" fmla="val 60000"/>
            </a:avLst>
          </a:prstGeom>
          <a:noFill/>
          <a:ln w="28575">
            <a:solidFill>
              <a:srgbClr val="1B3D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5764" y="2338388"/>
            <a:ext cx="391808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B3D3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JS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939951" y="1814513"/>
            <a:ext cx="0" cy="1514326"/>
          </a:xfrm>
          <a:prstGeom prst="line">
            <a:avLst/>
          </a:prstGeom>
          <a:noFill/>
          <a:ln w="38100">
            <a:solidFill>
              <a:srgbClr val="D463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12902" y="1814513"/>
            <a:ext cx="5142839" cy="1066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i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“Working with Stromy delivered measurable results within 90 days.</a:t>
            </a:r>
            <a:endParaRPr lang="en-US" sz="20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2000" b="1" i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         I recommend them without reservation.”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12902" y="3033564"/>
            <a:ext cx="51428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Jane Smith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12902" y="3195489"/>
            <a:ext cx="514283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Chief Strategy Officer, Acme Corp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21140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OUR 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21140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Leadership Team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732246" y="1855738"/>
            <a:ext cx="34550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3D3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AJ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9140" y="2692301"/>
            <a:ext cx="23317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buNone/>
            </a:pPr>
            <a:r>
              <a:rPr lang="en-US" sz="13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Alex Johnson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9140" y="2908102"/>
            <a:ext cx="23317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MANAGING DIRECTOR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9140" y="3117652"/>
            <a:ext cx="233172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Strategic leadership, 15+ years enterprise consulting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05590" y="1855738"/>
            <a:ext cx="38027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3D3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SC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329940" y="2692301"/>
            <a:ext cx="23317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buNone/>
            </a:pPr>
            <a:r>
              <a:rPr lang="en-US" sz="13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Sarah Chen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29940" y="2908102"/>
            <a:ext cx="23317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HEAD OF STRATEGY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29940" y="3117652"/>
            <a:ext cx="233172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Former McKinsey, digital transformation specialist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44625" y="1855738"/>
            <a:ext cx="48380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3D3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MR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920740" y="2692301"/>
            <a:ext cx="23317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buNone/>
            </a:pPr>
            <a:r>
              <a:rPr lang="en-US" sz="13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Marcus Rivera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20740" y="2908102"/>
            <a:ext cx="23317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TECHNICAL LEAD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20740" y="3117652"/>
            <a:ext cx="233172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Engineering background, data architecture expertise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18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35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26007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260071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Extended Team (2×2)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330668" y="1874788"/>
            <a:ext cx="31681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B3D3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AJ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82421" y="2666851"/>
            <a:ext cx="18134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Alex Johnson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82421" y="2863602"/>
            <a:ext cx="18134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MANAGING DIRECTOR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97431" y="1874788"/>
            <a:ext cx="34854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B3D3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SC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65122" y="2666851"/>
            <a:ext cx="18134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Sarah Chen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65122" y="2863602"/>
            <a:ext cx="18134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HEAD OF STRATEGY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2616" y="1874788"/>
            <a:ext cx="44357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B3D3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747823" y="2666851"/>
            <a:ext cx="18134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Marcus Rivera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47823" y="2863602"/>
            <a:ext cx="18134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TECHNICAL LEAD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405475" y="3643015"/>
            <a:ext cx="33260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B3D3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EP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65122" y="4435078"/>
            <a:ext cx="18134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Emily Park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65122" y="4631829"/>
            <a:ext cx="18134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OPERATIONS DIRECTOR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18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36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28035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CAPABILITIES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280352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What We Deliver (2×3)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549301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1B3D33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108002"/>
            <a:ext cx="20208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Strategy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2000" y="2330202"/>
            <a:ext cx="20208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Data-driven planning and positioning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8000" y="1549301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1B3D33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048000" y="2108002"/>
            <a:ext cx="20208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48000" y="2330202"/>
            <a:ext cx="20208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Deep insights from structured analysis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34000" y="1549301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1B3D33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34000" y="2108002"/>
            <a:ext cx="20208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Growth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34000" y="2330202"/>
            <a:ext cx="20208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Scalable sustainable expansion models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62000" y="2794992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1B3D33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62000" y="3353693"/>
            <a:ext cx="20208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62000" y="3575893"/>
            <a:ext cx="20208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Process optimization and efficiency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048000" y="2794992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1B3D33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048000" y="3353693"/>
            <a:ext cx="20208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48000" y="3575893"/>
            <a:ext cx="20208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Emerging technology capabilities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34000" y="2794992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1B3D33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334000" y="3353693"/>
            <a:ext cx="20208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Advisory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34000" y="3575893"/>
            <a:ext cx="20208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Expert guidance for complex decisions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24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37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53901"/>
            <a:ext cx="2166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Capability Grid (3×3)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727150" y="863501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907491" y="1295251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Strategy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886051" y="863501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066392" y="1295251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44952" y="863501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225293" y="1295251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Growth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727150" y="164112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07491" y="2072878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886051" y="164112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066392" y="2072878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44952" y="164112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225293" y="2072878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Advisory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27150" y="2418755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07491" y="2850505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86051" y="2418755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066392" y="2850505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Design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44952" y="2418755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225293" y="2850505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Recommended Actions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320552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01601" y="1412528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69950" y="1320552"/>
            <a:ext cx="72542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Review and approve strategic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69950" y="1517303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 1-2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2000" y="185380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01601" y="1945779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69950" y="1853803"/>
            <a:ext cx="72542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Mobilize project team and assign workstreams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69950" y="2050554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 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2000" y="2387054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01601" y="2479030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69950" y="2387054"/>
            <a:ext cx="72542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Phase 1 discovery workshops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69950" y="2583805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 4-6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62000" y="2920305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01601" y="3012281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69950" y="2920305"/>
            <a:ext cx="72542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milestone review and course correction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69950" y="3117056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463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 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7950" y="4854625"/>
            <a:ext cx="8127950" cy="9525"/>
          </a:xfrm>
          <a:prstGeom prst="rect">
            <a:avLst/>
          </a:prstGeom>
          <a:solidFill>
            <a:srgbClr val="DADA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07950" y="4943475"/>
            <a:ext cx="3051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Stromy</a:t>
            </a:r>
            <a:endParaRPr lang="en-US" sz="800" dirty="0"/>
          </a:p>
        </p:txBody>
      </p:sp>
      <p:pic>
        <p:nvPicPr>
          <p:cNvPr id="22" name="Image 0" descr="/Users/williammasquelier/Repositories/stromy-org/brand-tokens/clients/stromy/logos/icon_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5699" y="4940350"/>
            <a:ext cx="152400" cy="1524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D9D9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40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18146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181467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Before &amp; After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396901"/>
            <a:ext cx="3555950" cy="1942951"/>
          </a:xfrm>
          <a:prstGeom prst="roundRect">
            <a:avLst>
              <a:gd name="adj" fmla="val 2941"/>
            </a:avLst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762000" y="1411188"/>
            <a:ext cx="3555950" cy="0"/>
          </a:xfrm>
          <a:prstGeom prst="line">
            <a:avLst/>
          </a:prstGeom>
          <a:noFill/>
          <a:ln w="28575">
            <a:solidFill>
              <a:srgbClr val="9D9D9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5150" y="1628626"/>
            <a:ext cx="32126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CURRENT STATE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1851" y="1396901"/>
            <a:ext cx="3555950" cy="1942951"/>
          </a:xfrm>
          <a:prstGeom prst="roundRect">
            <a:avLst>
              <a:gd name="adj" fmla="val 2941"/>
            </a:avLst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1851" y="1411188"/>
            <a:ext cx="3555950" cy="0"/>
          </a:xfrm>
          <a:prstGeom prst="line">
            <a:avLst/>
          </a:prstGeom>
          <a:noFill/>
          <a:ln w="28575">
            <a:solidFill>
              <a:srgbClr val="D463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75002" y="1628626"/>
            <a:ext cx="32126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D4632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FUTURE STATE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B3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lliammasquelier/Repositories/stromy-org/brand-tokens/clients/stromy/pattern-grid-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7050" y="-603200"/>
            <a:ext cx="6349901" cy="634990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D46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1333551" y="1717179"/>
            <a:ext cx="6476899" cy="1168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Let’s Build</a:t>
            </a:r>
            <a:endParaRPr lang="en-US" sz="4000" dirty="0"/>
          </a:p>
          <a:p>
            <a:pPr algn="ctr"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Something Great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397050" y="2986683"/>
            <a:ext cx="1015901" cy="142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333551" y="3204121"/>
            <a:ext cx="64768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Intelligence, Orchestrated.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333551" y="3718471"/>
            <a:ext cx="64768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example.com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333551" y="3931146"/>
            <a:ext cx="64768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hello@example.com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333551" y="1998018"/>
            <a:ext cx="6476899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397050" y="2683520"/>
            <a:ext cx="1015901" cy="14288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333551" y="2900958"/>
            <a:ext cx="64768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4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Intelligence, Orchestrated.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33551" y="3364409"/>
            <a:ext cx="64768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buNone/>
            </a:pPr>
            <a:r>
              <a:rPr lang="en-US" sz="1000" dirty="0">
                <a:solidFill>
                  <a:srgbClr val="6B81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example.com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33551" y="3558034"/>
            <a:ext cx="6476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79797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hello@example.com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B3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lliammasquelier/Repositories/stromy-org/brand-tokens/clients/stromy/pattern-grid-d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7050" y="-603200"/>
            <a:ext cx="6349901" cy="634990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33551" y="1840781"/>
            <a:ext cx="6476899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Questions?</a:t>
            </a:r>
            <a:endParaRPr lang="en-US" sz="6400" dirty="0"/>
          </a:p>
        </p:txBody>
      </p:sp>
      <p:sp>
        <p:nvSpPr>
          <p:cNvPr id="4" name="Text 1"/>
          <p:cNvSpPr/>
          <p:nvPr/>
        </p:nvSpPr>
        <p:spPr>
          <a:xfrm>
            <a:off x="1397050" y="2875731"/>
            <a:ext cx="762000" cy="142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1333551" y="3093169"/>
            <a:ext cx="64768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hello@example.com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421731"/>
            <a:ext cx="36270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Stromy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62000" y="2980432"/>
            <a:ext cx="762000" cy="14288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62000" y="3147120"/>
            <a:ext cx="36270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2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Intelligence, Orchestrated.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26050" y="2048024"/>
            <a:ext cx="3627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EMAIL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826050" y="2206675"/>
            <a:ext cx="3627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6B81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hello@example.com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826050" y="2571750"/>
            <a:ext cx="3627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D9D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WEBSITE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826050" y="2730401"/>
            <a:ext cx="3627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6B81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example.com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33274" y="2118568"/>
            <a:ext cx="2477453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Appendix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357563" y="2686794"/>
            <a:ext cx="762000" cy="14288"/>
          </a:xfrm>
          <a:prstGeom prst="rect">
            <a:avLst/>
          </a:prstGeom>
          <a:solidFill>
            <a:srgbClr val="1B3D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333274" y="2853482"/>
            <a:ext cx="247745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buNone/>
            </a:pPr>
            <a:r>
              <a:rPr lang="en-US" sz="1200" dirty="0">
                <a:solidFill>
                  <a:srgbClr val="79797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Supporting data and reference materials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Stromy Presentation Template — 50-Slide Layout Library</dc:subject>
  <dc:creator>Stromy</dc:creator>
  <cp:lastModifiedBy>Stromy</cp:lastModifiedBy>
  <cp:revision>1</cp:revision>
  <dcterms:created xsi:type="dcterms:W3CDTF">2026-04-05T23:31:39Z</dcterms:created>
  <dcterms:modified xsi:type="dcterms:W3CDTF">2026-04-05T23:31:39Z</dcterms:modified>
</cp:coreProperties>
</file>