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 score</c:v>
                </c:pt>
              </c:strCache>
            </c:strRef>
          </c:tx>
          <c:spPr>
            <a:solidFill>
              <a:srgbClr val="2A5E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0B0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Industry assoc.</c:v>
                  </c:pt>
                  <c:pt idx="1">
                    <c:v>Municipal auth.</c:v>
                  </c:pt>
                  <c:pt idx="2">
                    <c:v>Media</c:v>
                  </c:pt>
                  <c:pt idx="3">
                    <c:v>Resident groups</c:v>
                  </c:pt>
                  <c:pt idx="4">
                    <c:v>Enviro NGOs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0.87</c:v>
                </c:pt>
                <c:pt idx="1">
                  <c:v>0.62</c:v>
                </c:pt>
                <c:pt idx="2">
                  <c:v>0.31</c:v>
                </c:pt>
                <c:pt idx="3">
                  <c:v>0.12</c:v>
                </c:pt>
                <c:pt idx="4">
                  <c:v>-0.41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0B0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B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A7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Municipal</c:v>
                </c:pt>
              </c:strCache>
            </c:strRef>
          </c:tx>
          <c:spPr>
            <a:solidFill>
              <a:srgbClr val="2A5E4C"/>
            </a:solidFill>
            <a:ln w="31750" cap="flat">
              <a:solidFill>
                <a:srgbClr val="2A5E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5E4C"/>
              </a:solidFill>
              <a:ln w="9525" cap="flat">
                <a:solidFill>
                  <a:srgbClr val="2A5E4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 W1</c:v>
                  </c:pt>
                  <c:pt idx="1">
                    <c:v>Jan W2</c:v>
                  </c:pt>
                  <c:pt idx="2">
                    <c:v>Jan W3</c:v>
                  </c:pt>
                  <c:pt idx="3">
                    <c:v>Jan W4</c:v>
                  </c:pt>
                  <c:pt idx="4">
                    <c:v>Feb W1</c:v>
                  </c:pt>
                  <c:pt idx="5">
                    <c:v>Feb W2</c:v>
                  </c:pt>
                  <c:pt idx="6">
                    <c:v>Feb W3</c:v>
                  </c:pt>
                  <c:pt idx="7">
                    <c:v>Feb W4</c:v>
                  </c:pt>
                  <c:pt idx="8">
                    <c:v>Mar W1</c:v>
                  </c:pt>
                  <c:pt idx="9">
                    <c:v>Mar W2</c:v>
                  </c:pt>
                  <c:pt idx="10">
                    <c:v>Mar W3</c:v>
                  </c:pt>
                  <c:pt idx="11">
                    <c:v>Mar W4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0.55</c:v>
                </c:pt>
                <c:pt idx="1">
                  <c:v>0.58</c:v>
                </c:pt>
                <c:pt idx="2">
                  <c:v>0.61</c:v>
                </c:pt>
                <c:pt idx="3">
                  <c:v>0.6</c:v>
                </c:pt>
                <c:pt idx="4">
                  <c:v>0.65</c:v>
                </c:pt>
                <c:pt idx="5">
                  <c:v>0.7</c:v>
                </c:pt>
                <c:pt idx="6">
                  <c:v>0.68</c:v>
                </c:pt>
                <c:pt idx="7">
                  <c:v>0.64</c:v>
                </c:pt>
                <c:pt idx="8">
                  <c:v>0.62</c:v>
                </c:pt>
                <c:pt idx="9">
                  <c:v>0.6</c:v>
                </c:pt>
                <c:pt idx="10">
                  <c:v>0.61</c:v>
                </c:pt>
                <c:pt idx="11">
                  <c:v>0.62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Enviro NGOs</c:v>
                </c:pt>
              </c:strCache>
            </c:strRef>
          </c:tx>
          <c:spPr>
            <a:solidFill>
              <a:srgbClr val="D4632A"/>
            </a:solidFill>
            <a:ln w="31750" cap="flat">
              <a:solidFill>
                <a:srgbClr val="D463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632A"/>
              </a:solidFill>
              <a:ln w="9525" cap="flat">
                <a:solidFill>
                  <a:srgbClr val="D463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 W1</c:v>
                  </c:pt>
                  <c:pt idx="1">
                    <c:v>Jan W2</c:v>
                  </c:pt>
                  <c:pt idx="2">
                    <c:v>Jan W3</c:v>
                  </c:pt>
                  <c:pt idx="3">
                    <c:v>Jan W4</c:v>
                  </c:pt>
                  <c:pt idx="4">
                    <c:v>Feb W1</c:v>
                  </c:pt>
                  <c:pt idx="5">
                    <c:v>Feb W2</c:v>
                  </c:pt>
                  <c:pt idx="6">
                    <c:v>Feb W3</c:v>
                  </c:pt>
                  <c:pt idx="7">
                    <c:v>Feb W4</c:v>
                  </c:pt>
                  <c:pt idx="8">
                    <c:v>Mar W1</c:v>
                  </c:pt>
                  <c:pt idx="9">
                    <c:v>Mar W2</c:v>
                  </c:pt>
                  <c:pt idx="10">
                    <c:v>Mar W3</c:v>
                  </c:pt>
                  <c:pt idx="11">
                    <c:v>Mar W4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-0.2</c:v>
                </c:pt>
                <c:pt idx="1">
                  <c:v>-0.22</c:v>
                </c:pt>
                <c:pt idx="2">
                  <c:v>-0.25</c:v>
                </c:pt>
                <c:pt idx="3">
                  <c:v>-0.3</c:v>
                </c:pt>
                <c:pt idx="4">
                  <c:v>-0.35</c:v>
                </c:pt>
                <c:pt idx="5">
                  <c:v>-0.38</c:v>
                </c:pt>
                <c:pt idx="6">
                  <c:v>-0.4</c:v>
                </c:pt>
                <c:pt idx="7">
                  <c:v>-0.42</c:v>
                </c:pt>
                <c:pt idx="8">
                  <c:v>-0.41</c:v>
                </c:pt>
                <c:pt idx="9">
                  <c:v>-0.4</c:v>
                </c:pt>
                <c:pt idx="10">
                  <c:v>-0.41</c:v>
                </c:pt>
                <c:pt idx="11">
                  <c:v>-0.41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A8A7A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B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8A7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D33"/>
              </a:solidFill>
              <a:effectLst/>
            </c:spPr>
          </c:dPt>
          <c:dPt>
            <c:idx val="1"/>
            <c:bubble3D val="0"/>
            <c:spPr>
              <a:solidFill>
                <a:srgbClr val="2A5E4C"/>
              </a:solidFill>
              <a:effectLst/>
            </c:spPr>
          </c:dPt>
          <c:dPt>
            <c:idx val="2"/>
            <c:bubble3D val="0"/>
            <c:spPr>
              <a:solidFill>
                <a:srgbClr val="3A7D65"/>
              </a:solidFill>
              <a:effectLst/>
            </c:spPr>
          </c:dPt>
          <c:dPt>
            <c:idx val="3"/>
            <c:bubble3D val="0"/>
            <c:spPr>
              <a:solidFill>
                <a:srgbClr val="D4632A"/>
              </a:solidFill>
              <a:effectLst/>
            </c:spPr>
          </c:dPt>
          <c:dPt>
            <c:idx val="4"/>
            <c:bubble3D val="0"/>
            <c:spPr>
              <a:solidFill>
                <a:srgbClr val="5A5A5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2F0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2F0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2F0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2F0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2F0E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Print media</c:v>
                </c:pt>
                <c:pt idx="1">
                  <c:v>Online news</c:v>
                </c:pt>
                <c:pt idx="2">
                  <c:v>Social</c:v>
                </c:pt>
                <c:pt idx="3">
                  <c:v>Regulatory</c:v>
                </c:pt>
                <c:pt idx="4">
                  <c:v>Corporate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180</c:v>
                </c:pt>
                <c:pt idx="1">
                  <c:v>320</c:v>
                </c:pt>
                <c:pt idx="2">
                  <c:v>150</c:v>
                </c:pt>
                <c:pt idx="3">
                  <c:v>97</c:v>
                </c:pt>
                <c:pt idx="4">
                  <c:v>100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 Goes Here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45720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66944" y="298094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· Confidential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[Client Name]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recommendations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645920"/>
            <a:ext cx="68580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20299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 and data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395728"/>
            <a:ext cx="68580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2505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77977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findings and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145536"/>
            <a:ext cx="68580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552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71600" y="32552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5295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and implementation roadmap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895344"/>
            <a:ext cx="685800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7160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4279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data and methodology notes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the intelligence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0"/>
          </a:xfrm>
          <a:prstGeom prst="line">
            <a:avLst/>
          </a:prstGeom>
          <a:noFill/>
          <a:ln w="19050">
            <a:solidFill>
              <a:srgbClr val="3A7D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52544" y="325526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1920240" cy="4572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097280"/>
            <a:ext cx="1920240" cy="4572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92.3%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974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097280"/>
            <a:ext cx="1920240" cy="4572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8463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clusters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097280"/>
            <a:ext cx="192024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1097280"/>
            <a:ext cx="1920240" cy="4572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46304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9516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positions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29260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4572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€2.4M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of reputational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stakeholder concerns remain unaddressed through Q3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29260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4572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72h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50292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response window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2918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negative media coverage escalates beyond local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headline goes here with a clear finding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detail paragraph that explains the finding in context. This should be 2-3 sentences maximum, providing enough context for the audience.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731520"/>
            <a:ext cx="3657600" cy="347472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/ Visual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three-phase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560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60604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 from 50+ data sources across media, regulatory, and corporate channels.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606040" cy="2560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463040"/>
            <a:ext cx="260604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377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sentiment analysis, entity extraction, and stakeholder mapping with human validation.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2560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463040"/>
            <a:ext cx="260604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057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intelligence reports with actionable recommendations and confidence scoring.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deliver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31920" cy="1417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41732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and analysis of media coverage across languages and geographies.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31920" cy="1417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417320"/>
            <a:ext cx="54864" cy="141732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mapping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identification and modeling of stakeholder networks, positions, and influence.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931920" cy="1417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063240"/>
            <a:ext cx="54864" cy="141732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workflows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early-warning systems with escalation triggers and response playbooks.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3931920" cy="141732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3063240"/>
            <a:ext cx="54864" cy="141732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audits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assessment of strategic positioning against industry benchmarks.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cluster overview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3716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Municipal authorities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NGOs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Opposition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-0.41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association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0.87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 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0B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8A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STROMY intelligence workflow · 847 Dutch-language media articles, Jan–Mar 2026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by stakeholder cluster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trajectory — January to March 2026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distribution by channel type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645920"/>
            <a:ext cx="182880" cy="18288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6" name="Text 3"/>
          <p:cNvSpPr/>
          <p:nvPr/>
        </p:nvSpPr>
        <p:spPr>
          <a:xfrm>
            <a:off x="534924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media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2148840"/>
            <a:ext cx="182880" cy="182880"/>
          </a:xfrm>
          <a:prstGeom prst="rect">
            <a:avLst/>
          </a:prstGeom>
          <a:solidFill>
            <a:srgbClr val="2A5E4C"/>
          </a:solidFill>
          <a:ln/>
        </p:spPr>
      </p:sp>
      <p:sp>
        <p:nvSpPr>
          <p:cNvPr id="9" name="Text 6"/>
          <p:cNvSpPr/>
          <p:nvPr/>
        </p:nvSpPr>
        <p:spPr>
          <a:xfrm>
            <a:off x="534924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news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0" y="2651760"/>
            <a:ext cx="182880" cy="18288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12" name="Text 9"/>
          <p:cNvSpPr/>
          <p:nvPr/>
        </p:nvSpPr>
        <p:spPr>
          <a:xfrm>
            <a:off x="53492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3154680"/>
            <a:ext cx="182880" cy="18288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34924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filings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3657600"/>
            <a:ext cx="182880" cy="182880"/>
          </a:xfrm>
          <a:prstGeom prst="rect">
            <a:avLst/>
          </a:prstGeom>
          <a:solidFill>
            <a:srgbClr val="5A5A56"/>
          </a:solidFill>
          <a:ln/>
        </p:spPr>
      </p:sp>
      <p:sp>
        <p:nvSpPr>
          <p:cNvPr id="18" name="Text 15"/>
          <p:cNvSpPr/>
          <p:nvPr/>
        </p:nvSpPr>
        <p:spPr>
          <a:xfrm>
            <a:off x="534924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comms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3611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54864" cy="182880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09728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 or strategic recommendation that captures the most important takeaway from the analysis.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Section 03: Analysis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4206240"/>
            <a:ext cx="7680960" cy="0"/>
          </a:xfrm>
          <a:prstGeom prst="line">
            <a:avLst/>
          </a:prstGeom>
          <a:noFill/>
          <a:ln w="19050">
            <a:solidFill>
              <a:srgbClr val="3A7D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75904" y="416966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of intelligence workflow deployment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27432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86200" cy="36576"/>
          </a:xfrm>
          <a:prstGeom prst="rect">
            <a:avLst/>
          </a:prstGeom>
          <a:solidFill>
            <a:srgbClr val="A8A7A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media scanning (4h daily)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cycle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stakeholders tracked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crisis 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sources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3886200" cy="27432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463040"/>
            <a:ext cx="3886200" cy="36576"/>
          </a:xfrm>
          <a:prstGeom prst="rect">
            <a:avLst/>
          </a:prstGeom>
          <a:solidFill>
            <a:srgbClr val="2A5E4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A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real-time ingestion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intelligence updates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sources, 23 clusters mapped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early-warning 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Dutch, English, French coverage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influence-position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 rot="16200000">
            <a:off x="274320" y="2468880"/>
            <a:ext cx="365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8A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A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 (NEGATIVE ← → POSITIVE)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3383280" cy="1325880"/>
          </a:xfrm>
          <a:prstGeom prst="rect">
            <a:avLst/>
          </a:prstGeom>
          <a:solidFill>
            <a:srgbClr val="FBE8D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371600"/>
            <a:ext cx="3383280" cy="36576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 closely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influence,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383280" cy="132588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371600"/>
            <a:ext cx="3383280" cy="36576"/>
          </a:xfrm>
          <a:prstGeom prst="rect">
            <a:avLst/>
          </a:prstGeom>
          <a:solidFill>
            <a:srgbClr val="2A5E4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advocates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influence,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position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97280" y="2880360"/>
            <a:ext cx="3383280" cy="1325880"/>
          </a:xfrm>
          <a:prstGeom prst="rect">
            <a:avLst/>
          </a:prstGeom>
          <a:solidFill>
            <a:srgbClr val="ECEAE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2880360"/>
            <a:ext cx="3383280" cy="36576"/>
          </a:xfrm>
          <a:prstGeom prst="rect">
            <a:avLst/>
          </a:prstGeom>
          <a:solidFill>
            <a:srgbClr val="C8C6BF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concerns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influence,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position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3383280" cy="132588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2880360"/>
            <a:ext cx="3383280" cy="36576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informed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influence,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position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workflow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08760" cy="201168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150876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sources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22860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645920"/>
            <a:ext cx="1508760" cy="201168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645920"/>
            <a:ext cx="150876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7830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48840" y="2240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48840" y="2606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40480" y="1645920"/>
            <a:ext cx="1508760" cy="201168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7" name="Shape 15"/>
          <p:cNvSpPr/>
          <p:nvPr/>
        </p:nvSpPr>
        <p:spPr>
          <a:xfrm>
            <a:off x="3840480" y="1645920"/>
            <a:ext cx="150876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7830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0" y="2240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2606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&amp; sentiment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49240" y="22860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32120" y="1645920"/>
            <a:ext cx="1508760" cy="201168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23" name="Shape 21"/>
          <p:cNvSpPr/>
          <p:nvPr/>
        </p:nvSpPr>
        <p:spPr>
          <a:xfrm>
            <a:off x="5532120" y="1645920"/>
            <a:ext cx="150876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17830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2240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32120" y="2606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mapping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228600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23760" y="1645920"/>
            <a:ext cx="1508760" cy="201168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29" name="Shape 27"/>
          <p:cNvSpPr/>
          <p:nvPr/>
        </p:nvSpPr>
        <p:spPr>
          <a:xfrm>
            <a:off x="7223760" y="1645920"/>
            <a:ext cx="1508760" cy="36576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30" name="Text 28"/>
          <p:cNvSpPr/>
          <p:nvPr/>
        </p:nvSpPr>
        <p:spPr>
          <a:xfrm>
            <a:off x="7223760" y="17830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23760" y="224028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2606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timeline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7680960" cy="36576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267712"/>
            <a:ext cx="164592" cy="164592"/>
          </a:xfrm>
          <a:prstGeom prst="ellipse">
            <a:avLst/>
          </a:prstGeom>
          <a:solidFill>
            <a:srgbClr val="3A7D6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&amp; config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1-2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2267712"/>
            <a:ext cx="164592" cy="164592"/>
          </a:xfrm>
          <a:prstGeom prst="ellipse">
            <a:avLst/>
          </a:prstGeom>
          <a:solidFill>
            <a:srgbClr val="3A7D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3-4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2267712"/>
            <a:ext cx="164592" cy="164592"/>
          </a:xfrm>
          <a:prstGeom prst="ellipse">
            <a:avLst/>
          </a:prstGeom>
          <a:solidFill>
            <a:srgbClr val="3A7D6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5-8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2267712"/>
            <a:ext cx="164592" cy="16459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Go-live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9-10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1828800" cy="22860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3017520"/>
            <a:ext cx="1828800" cy="228600"/>
          </a:xfrm>
          <a:prstGeom prst="rect">
            <a:avLst/>
          </a:prstGeom>
          <a:solidFill>
            <a:srgbClr val="2A5E4C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017520"/>
            <a:ext cx="1828800" cy="228600"/>
          </a:xfrm>
          <a:prstGeom prst="rect">
            <a:avLst/>
          </a:prstGeom>
          <a:solidFill>
            <a:srgbClr val="3A7D65"/>
          </a:solidFill>
          <a:ln/>
        </p:spPr>
      </p:sp>
      <p:sp>
        <p:nvSpPr>
          <p:cNvPr id="24" name="Shape 22"/>
          <p:cNvSpPr/>
          <p:nvPr/>
        </p:nvSpPr>
        <p:spPr>
          <a:xfrm>
            <a:off x="6766560" y="3017520"/>
            <a:ext cx="1645920" cy="22860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Identified risks and mitigation strategies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37490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3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3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 engagement with municipal authorities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narrative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63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monitoring with 24h alert triggers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5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permit track preparation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gap in coverage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D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2F0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D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Supplementary source integration planned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STROMY operating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3258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monitoring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automated data collection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606040" cy="13258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56432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 validated by analysts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2606040" cy="13258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3" name="Text 11"/>
          <p:cNvSpPr/>
          <p:nvPr/>
        </p:nvSpPr>
        <p:spPr>
          <a:xfrm>
            <a:off x="6291072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91072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NLP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EN, NL, FR, DE, ES coverage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06040" cy="13258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1792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taxonomies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entity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606040" cy="13258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1" name="Text 19"/>
          <p:cNvSpPr/>
          <p:nvPr/>
        </p:nvSpPr>
        <p:spPr>
          <a:xfrm>
            <a:off x="3456432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56432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56432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point rated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606040" cy="132588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5" name="Text 23"/>
          <p:cNvSpPr/>
          <p:nvPr/>
        </p:nvSpPr>
        <p:spPr>
          <a:xfrm>
            <a:off x="6291072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91072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reports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91072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brand, our intelligence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transition stakeholder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7432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" cy="274320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infrastructure project faced increasing stakeholder opposition across multiple municipalities, with fragmented media coverage in three languages.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 deployed a multilingual intelligence workflow that identified 3 blocking stakeholder clusters and 2 actionable engagement opportunities within 14 days.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84048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08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5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monitored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21408"/>
            <a:ext cx="384048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1671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5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35040" y="21671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identified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79776"/>
            <a:ext cx="384048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82549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5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35040" y="28254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38144"/>
            <a:ext cx="3840480" cy="54864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3483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A5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0" y="34838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positions found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A: Accelerated engagement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86200" cy="2560320"/>
          </a:xfrm>
          <a:prstGeom prst="rect">
            <a:avLst/>
          </a:prstGeom>
          <a:solidFill>
            <a:srgbClr val="E8F0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3886200" cy="36576"/>
          </a:xfrm>
          <a:prstGeom prst="rect">
            <a:avLst/>
          </a:prstGeom>
          <a:solidFill>
            <a:srgbClr val="2A5E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resolution timeline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Demonstrates proactive commitment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Pre-empts media escalation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Builds trust with municipal coalition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3886200" cy="2560320"/>
          </a:xfrm>
          <a:prstGeom prst="rect">
            <a:avLst/>
          </a:prstGeom>
          <a:solidFill>
            <a:srgbClr val="FBE8D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463040"/>
            <a:ext cx="3886200" cy="36576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0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Higher upfront resource commitment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Political timing uncertainty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788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May surface dormant opposition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Requires executive sponsorship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organisations that control the intelligence workflow control the narrative.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3840480"/>
            <a:ext cx="27432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7024" y="380390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 · Intelligence, Orchestrated.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" cy="685800"/>
          </a:xfrm>
          <a:prstGeom prst="rect">
            <a:avLst/>
          </a:prstGeom>
          <a:solidFill>
            <a:srgbClr val="D4632A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05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stakeholder map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with client's internal intelligence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0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0" y="100584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 + Client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1783080"/>
            <a:ext cx="749808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74520"/>
            <a:ext cx="36576" cy="68580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monitoring workflow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sentiment tracking across identified channels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0" y="18745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2-3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8745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05840" y="2651760"/>
            <a:ext cx="749808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43200"/>
            <a:ext cx="36576" cy="68580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intelligence briefing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0584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findings presentation to steering committee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27432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5840" y="3520440"/>
            <a:ext cx="7498080" cy="0"/>
          </a:xfrm>
          <a:prstGeom prst="line">
            <a:avLst/>
          </a:prstGeom>
          <a:noFill/>
          <a:ln w="6350">
            <a:solidFill>
              <a:srgbClr val="DDDB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611880"/>
            <a:ext cx="36576" cy="685800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strategy audit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0584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recommendations for engagement with blocking clusters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5E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361188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0" y="640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A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640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A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B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behind the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1645920"/>
            <a:ext cx="914400" cy="914400"/>
          </a:xfrm>
          <a:prstGeom prst="ellipse">
            <a:avLst/>
          </a:prstGeom>
          <a:solidFill>
            <a:srgbClr val="0E2A2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Corentin Music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Lead Architect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design, AI strategy, stakeholder modeling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65176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1645920"/>
            <a:ext cx="914400" cy="914400"/>
          </a:xfrm>
          <a:prstGeom prst="ellipse">
            <a:avLst/>
          </a:prstGeom>
          <a:solidFill>
            <a:srgbClr val="0E2A22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02152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Analyst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monitoring, sentiment analysis, report authoring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1645920"/>
            <a:ext cx="914400" cy="914400"/>
          </a:xfrm>
          <a:prstGeom prst="ellipse">
            <a:avLst/>
          </a:prstGeom>
          <a:solidFill>
            <a:srgbClr val="0E2A22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6916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A7D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82512" y="26517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82512" y="2926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82512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architecture, NLP model deployment, data ops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467258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73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5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3D3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280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spc="300" kern="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STROMY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2743200" cy="0"/>
          </a:xfrm>
          <a:prstGeom prst="line">
            <a:avLst/>
          </a:prstGeom>
          <a:noFill/>
          <a:ln w="19050">
            <a:solidFill>
              <a:srgbClr val="1B3D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07024" y="1975104"/>
            <a:ext cx="73152" cy="73152"/>
          </a:xfrm>
          <a:prstGeom prst="ellipse">
            <a:avLst/>
          </a:prstGeom>
          <a:solidFill>
            <a:srgbClr val="D4632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Intelligence, Orchestrated.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stromy.com.au</a:t>
            </a:r>
            <a:pPr algn="ctr"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</a:t>
            </a:r>
            <a:pPr algn="ctr" indent="0" marL="0">
              <a:buNone/>
            </a:pPr>
            <a:r>
              <a:rPr lang="en-US" sz="1000" dirty="0">
                <a:solidFill>
                  <a:srgbClr val="3A7D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stromy.nl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Corentin Music · Founder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STROMY Complete Slide Library</dc:title>
  <dc:subject>PptxGenJS Presentation</dc:subject>
  <dc:creator>STROMY</dc:creator>
  <cp:lastModifiedBy>STROMY</cp:lastModifiedBy>
  <cp:revision>1</cp:revision>
  <dcterms:created xsi:type="dcterms:W3CDTF">2026-03-22T20:54:28Z</dcterms:created>
  <dcterms:modified xsi:type="dcterms:W3CDTF">2026-03-22T20:54:28Z</dcterms:modified>
</cp:coreProperties>
</file>